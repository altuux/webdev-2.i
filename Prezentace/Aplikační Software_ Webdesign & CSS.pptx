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JetBrains Mono"/>
      <p:bold r:id="rId14"/>
    </p:embeddedFont>
    <p:embeddedFont>
      <p:font typeface="Plus Jakarta Sans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90"/>
  </p:normalViewPr>
  <p:slideViewPr>
    <p:cSldViewPr snapToGrid="0" snapToObjects="1">
      <p:cViewPr>
        <p:scale>
          <a:sx n="132" d="100"/>
          <a:sy n="132" d="100"/>
        </p:scale>
        <p:origin x="-184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838200" y="4663380"/>
            <a:ext cx="457200" cy="381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38200" y="2080319"/>
            <a:ext cx="113538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0A5FA"/>
                </a:solidFill>
                <a:latin typeface="Plus Jakarta Sans"/>
              </a:rPr>
              <a:t>APLIKAČNÍ SOFTWARE • 2. ROČNÍK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327969"/>
            <a:ext cx="8901112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8FAFC"/>
                </a:solidFill>
                <a:latin typeface="Plus Jakarta Sans"/>
              </a:rPr>
              <a:t>Základy webu: HTML tagy, propojení &amp; CSS Box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657600"/>
            <a:ext cx="67627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>
                <a:solidFill>
                  <a:srgbClr val="94A3B8"/>
                </a:solidFill>
                <a:latin typeface="Plus Jakarta Sans"/>
              </a:rPr>
              <a:t>Kompletní přehled klíčových tagů, práce v online editoru a praktická tvorba komponenty.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85900" y="4587180"/>
            <a:ext cx="918521" cy="17312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cs-CZ" sz="1125" b="0" i="0" u="none" dirty="0">
                <a:solidFill>
                  <a:srgbClr val="64748B"/>
                </a:solidFill>
                <a:latin typeface="JetBrains Mono"/>
              </a:rPr>
              <a:t>Ouředník Adam</a:t>
            </a:r>
            <a:endParaRPr sz="1125" b="0" i="0" u="none" dirty="0">
              <a:solidFill>
                <a:srgbClr val="64748B"/>
              </a:solidFill>
              <a:latin typeface="JetBrains Mon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2518320"/>
            <a:ext cx="5952678" cy="2647950"/>
          </a:xfrm>
          <a:prstGeom prst="roundRect">
            <a:avLst>
              <a:gd name="adj" fmla="val 7194"/>
            </a:avLst>
          </a:prstGeom>
          <a:solidFill>
            <a:srgbClr val="EFF6FF"/>
          </a:solidFill>
          <a:ln w="1905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867078" y="2456408"/>
            <a:ext cx="4753421" cy="828675"/>
          </a:xfrm>
          <a:prstGeom prst="roundRect">
            <a:avLst>
              <a:gd name="adj" fmla="val 1609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67078" y="3437483"/>
            <a:ext cx="4753421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67078" y="4409033"/>
            <a:ext cx="4753421" cy="819150"/>
          </a:xfrm>
          <a:prstGeom prst="roundRect">
            <a:avLst>
              <a:gd name="adj" fmla="val 162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880270"/>
            <a:ext cx="495300" cy="4953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013620"/>
            <a:ext cx="22860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PŘÍPRAVA PRACOVNÍHO PROSTŘEDÍ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Kde dnes píšeme kód?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566070"/>
            <a:ext cx="653597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ONLINE EDITOR BEZ INSTALACE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813720"/>
            <a:ext cx="6862771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250" b="1" i="0" u="none">
                <a:solidFill>
                  <a:srgbClr val="1E40AF"/>
                </a:solidFill>
                <a:latin typeface="JetBrains Mono"/>
              </a:rPr>
              <a:t>onecompiler.com/html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347120"/>
            <a:ext cx="532402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B82F6"/>
                </a:solidFill>
                <a:latin typeface="Plus Jakarta Sans"/>
              </a:rPr>
              <a:t>Otevřete si v prohlížeči tuto stránku. Umožňuje psát HTML i CSS kód přímo vedle živého náhledu výsledku.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5203" y="2656433"/>
            <a:ext cx="508679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1. Otevřít web v prohlížeči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05203" y="2904083"/>
            <a:ext cx="508679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Zadejte adresu </a:t>
            </a:r>
            <a:r>
              <a:rPr sz="1050" b="0" i="0" u="none">
                <a:solidFill>
                  <a:srgbClr val="2563EB"/>
                </a:solidFill>
                <a:latin typeface="Plus Jakarta Sans"/>
              </a:rPr>
              <a:t>onecompiler.com/html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05203" y="3637508"/>
            <a:ext cx="508679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2. Okamžité spouštění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05203" y="3885158"/>
            <a:ext cx="50867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Tlačítko </a:t>
            </a:r>
            <a:r>
              <a:rPr sz="1050" b="1" i="0" u="none">
                <a:solidFill>
                  <a:srgbClr val="64748B"/>
                </a:solidFill>
                <a:latin typeface="Plus Jakarta Sans"/>
              </a:rPr>
              <a:t>Run</a:t>
            </a:r>
            <a:r>
              <a:rPr sz="1050" b="0" i="0" u="none">
                <a:solidFill>
                  <a:srgbClr val="64748B"/>
                </a:solidFill>
                <a:latin typeface="Plus Jakarta Sans"/>
              </a:rPr>
              <a:t> okamžitě vykreslí výsledek v pravém okně.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05203" y="4609058"/>
            <a:ext cx="508679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3. Žádné ukládání na disk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05203" y="4856708"/>
            <a:ext cx="508679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Vhodné pro okamžité procvičování a testování syntaxe.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71500" y="2394495"/>
            <a:ext cx="4589264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3423195"/>
            <a:ext cx="4589264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4451895"/>
            <a:ext cx="4589264" cy="838200"/>
          </a:xfrm>
          <a:prstGeom prst="roundRect">
            <a:avLst>
              <a:gd name="adj" fmla="val 1363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OPAKOVÁNÍ Z MINULA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Co všechno skrývá hlavička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2584995"/>
            <a:ext cx="542333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Technická konfigurace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861220"/>
            <a:ext cx="51650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Kódování UTF-8 pro českou diakritiku a meta viewport.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613695"/>
            <a:ext cx="542333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Název stránky &lt;/div&gt;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889920"/>
            <a:ext cx="51650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Text v záložce prohlížeče a ve vyhledávačích.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4642395"/>
            <a:ext cx="5423334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Externí vazby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" y="4918620"/>
            <a:ext cx="516508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Propojení externího stylopisu CSS se souborem HTML.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1534640-8D5A-2F59-9681-31CF1541EF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3780" y="2595943"/>
            <a:ext cx="5825923" cy="2413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571500" y="2099220"/>
            <a:ext cx="4606676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965995"/>
            <a:ext cx="4606676" cy="885825"/>
          </a:xfrm>
          <a:prstGeom prst="roundRect">
            <a:avLst>
              <a:gd name="adj" fmla="val 10752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71500" y="4004220"/>
            <a:ext cx="4606676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71500" y="4870995"/>
            <a:ext cx="4606676" cy="714375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71500" y="2099220"/>
            <a:ext cx="38100" cy="7143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1500" y="2965995"/>
            <a:ext cx="38100" cy="8858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4004220"/>
            <a:ext cx="38100" cy="7143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1500" y="4870995"/>
            <a:ext cx="38100" cy="714375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HTML ZÁKLADY • TEXT A STRUKTURA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666750"/>
            <a:ext cx="3793026" cy="3590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ts val="2760"/>
              </a:lnSpc>
            </a:pP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Základní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 </a:t>
            </a:r>
            <a:r>
              <a:rPr sz="2400" b="1" i="0" u="none" dirty="0" err="1">
                <a:solidFill>
                  <a:srgbClr val="0F172A"/>
                </a:solidFill>
                <a:latin typeface="Plus Jakarta Sans"/>
              </a:rPr>
              <a:t>tagy</a:t>
            </a:r>
            <a:r>
              <a:rPr sz="2400" b="1" i="0" u="none" dirty="0">
                <a:solidFill>
                  <a:srgbClr val="0F172A"/>
                </a:solidFill>
                <a:latin typeface="Plus Jakarta Sans"/>
              </a:rPr>
              <a:t>: </a:t>
            </a:r>
            <a:r>
              <a:rPr lang="en-US" b="1" dirty="0"/>
              <a:t>&lt;h1&gt;, &lt;p&gt;, &lt;a&gt;, &lt;</a:t>
            </a:r>
            <a:r>
              <a:rPr lang="en-US" b="1" dirty="0" err="1"/>
              <a:t>hr</a:t>
            </a:r>
            <a:r>
              <a:rPr lang="en-US" b="1" dirty="0"/>
              <a:t>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2489745"/>
            <a:ext cx="523447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Nadpisy různých úrovní. je hlavní nadpis stránky (pouze 1×).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" y="3356520"/>
            <a:ext cx="428282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Běžný odstavec textu (paragraph). Automaticky odděluje bloky textu.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4394745"/>
            <a:ext cx="523447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Odkaz (anchor). Atribut </a:t>
            </a:r>
            <a:r>
              <a:rPr sz="1050" b="1" i="0" u="none">
                <a:solidFill>
                  <a:srgbClr val="475569"/>
                </a:solidFill>
                <a:latin typeface="Plus Jakarta Sans"/>
              </a:rPr>
              <a:t>href</a:t>
            </a:r>
            <a:r>
              <a:rPr sz="1050" b="0" i="0" u="none">
                <a:solidFill>
                  <a:srgbClr val="475569"/>
                </a:solidFill>
                <a:latin typeface="Plus Jakarta Sans"/>
              </a:rPr>
              <a:t> určuje cíl přesměrování.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" y="5261520"/>
            <a:ext cx="523447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Vodorovná oddělovací čára (horizontal rule). Nemá ukončovací tag.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118B416-07F4-A777-594E-60EC41913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8434" y="2117725"/>
            <a:ext cx="6158393" cy="31437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86C099DB-9203-2320-9575-18C5DDC8957F}"/>
              </a:ext>
            </a:extLst>
          </p:cNvPr>
          <p:cNvSpPr txBox="1"/>
          <p:nvPr/>
        </p:nvSpPr>
        <p:spPr>
          <a:xfrm>
            <a:off x="609600" y="2996713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300"/>
              </a:spcAft>
              <a:buNone/>
            </a:pPr>
            <a:r>
              <a:rPr lang="en-US" b="1" i="0" u="none" strike="noStrike" dirty="0">
                <a:solidFill>
                  <a:srgbClr val="10B981"/>
                </a:solidFill>
                <a:effectLst/>
                <a:latin typeface="JetBrains Mono"/>
              </a:rPr>
              <a:t>&lt;p&gt;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218DA17-12F1-679B-1B68-4A33040CCE5E}"/>
              </a:ext>
            </a:extLst>
          </p:cNvPr>
          <p:cNvSpPr txBox="1"/>
          <p:nvPr/>
        </p:nvSpPr>
        <p:spPr>
          <a:xfrm>
            <a:off x="609600" y="2140535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300"/>
              </a:spcAft>
              <a:buNone/>
            </a:pPr>
            <a:r>
              <a:rPr lang="en-US" b="1" i="0" u="none" strike="noStrike" dirty="0">
                <a:solidFill>
                  <a:srgbClr val="2563EB"/>
                </a:solidFill>
                <a:effectLst/>
                <a:latin typeface="JetBrains Mono"/>
              </a:rPr>
              <a:t>&lt;h1&gt; </a:t>
            </a:r>
            <a:r>
              <a:rPr lang="en-US" b="1" i="0" u="none" strike="noStrike" dirty="0" err="1">
                <a:solidFill>
                  <a:srgbClr val="2563EB"/>
                </a:solidFill>
                <a:effectLst/>
                <a:latin typeface="JetBrains Mono"/>
              </a:rPr>
              <a:t>až</a:t>
            </a:r>
            <a:r>
              <a:rPr lang="en-US" b="1" i="0" u="none" strike="noStrike" dirty="0">
                <a:solidFill>
                  <a:srgbClr val="2563EB"/>
                </a:solidFill>
                <a:effectLst/>
                <a:latin typeface="JetBrains Mono"/>
              </a:rPr>
              <a:t> &lt;h6&gt;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4549CD8-D6CB-8864-2CB8-57961093580F}"/>
              </a:ext>
            </a:extLst>
          </p:cNvPr>
          <p:cNvSpPr txBox="1"/>
          <p:nvPr/>
        </p:nvSpPr>
        <p:spPr>
          <a:xfrm>
            <a:off x="571500" y="4004220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300"/>
              </a:spcAft>
              <a:buNone/>
            </a:pPr>
            <a:r>
              <a:rPr lang="en-US" b="1" i="0" u="none" strike="noStrike" dirty="0">
                <a:solidFill>
                  <a:srgbClr val="F59E0B"/>
                </a:solidFill>
                <a:effectLst/>
                <a:latin typeface="JetBrains Mono"/>
              </a:rPr>
              <a:t>&lt;a </a:t>
            </a:r>
            <a:r>
              <a:rPr lang="en-US" b="1" i="0" u="none" strike="noStrike" dirty="0" err="1">
                <a:solidFill>
                  <a:srgbClr val="F59E0B"/>
                </a:solidFill>
                <a:effectLst/>
                <a:latin typeface="JetBrains Mono"/>
              </a:rPr>
              <a:t>href</a:t>
            </a:r>
            <a:r>
              <a:rPr lang="en-US" b="1" i="0" u="none" strike="noStrike" dirty="0">
                <a:solidFill>
                  <a:srgbClr val="F59E0B"/>
                </a:solidFill>
                <a:effectLst/>
                <a:latin typeface="JetBrains Mono"/>
              </a:rPr>
              <a:t>="..."&gt;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7A30F8A-8785-6ED1-EF4C-C7F5FDFE2F2B}"/>
              </a:ext>
            </a:extLst>
          </p:cNvPr>
          <p:cNvSpPr txBox="1"/>
          <p:nvPr/>
        </p:nvSpPr>
        <p:spPr>
          <a:xfrm>
            <a:off x="590550" y="4870297"/>
            <a:ext cx="60976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300"/>
              </a:spcAft>
              <a:buNone/>
            </a:pPr>
            <a:r>
              <a:rPr lang="en-US" b="1" i="0" u="none" strike="noStrike" dirty="0">
                <a:solidFill>
                  <a:srgbClr val="8B5CF6"/>
                </a:solidFill>
                <a:effectLst/>
                <a:latin typeface="JetBrains Mono"/>
              </a:rPr>
              <a:t>&lt;</a:t>
            </a:r>
            <a:r>
              <a:rPr lang="en-US" b="1" i="0" u="none" strike="noStrike" dirty="0" err="1">
                <a:solidFill>
                  <a:srgbClr val="8B5CF6"/>
                </a:solidFill>
                <a:effectLst/>
                <a:latin typeface="JetBrains Mono"/>
              </a:rPr>
              <a:t>hr</a:t>
            </a:r>
            <a:r>
              <a:rPr lang="en-US" b="1" i="0" u="none" strike="noStrike" dirty="0">
                <a:solidFill>
                  <a:srgbClr val="8B5CF6"/>
                </a:solidFill>
                <a:effectLst/>
                <a:latin typeface="JetBrains Mono"/>
              </a:rPr>
              <a:t>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031235" y="2484983"/>
            <a:ext cx="4589264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31235" y="3389858"/>
            <a:ext cx="4589264" cy="752475"/>
          </a:xfrm>
          <a:prstGeom prst="roundRect">
            <a:avLst>
              <a:gd name="adj" fmla="val 1518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31235" y="4294733"/>
            <a:ext cx="4589264" cy="904875"/>
          </a:xfrm>
          <a:prstGeom prst="roundRect">
            <a:avLst>
              <a:gd name="adj" fmla="val 12631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HTML ZÁKLADY • GRAFIKA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Vkládání a dimenzování obrázků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40785" y="2656433"/>
            <a:ext cx="49512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src (Source)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0785" y="2894558"/>
            <a:ext cx="495121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Cesta k souboru nebo URL adresa obrázku na internetu.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0785" y="3561308"/>
            <a:ext cx="495121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2563EB"/>
                </a:solidFill>
                <a:latin typeface="JetBrains Mono"/>
              </a:rPr>
              <a:t>alt (Alternativní text)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0785" y="3799433"/>
            <a:ext cx="4951214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Popis pro čtečky nevidomých a pokud obrázek selže načíst.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40785" y="4466183"/>
            <a:ext cx="4951214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Plus Jakarta Sans"/>
              </a:rPr>
              <a:t>Proč dimenzovat v CSS?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40785" y="4685258"/>
            <a:ext cx="4265414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B82F6"/>
                </a:solidFill>
                <a:latin typeface="Plus Jakarta Sans"/>
              </a:rPr>
              <a:t>Pomocí CSS určíme přesné pixely a zabráníme roztažení či deformaci obrazu.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3B92BBA-943C-9C5E-830E-3A8AD57F4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8" y="2439466"/>
            <a:ext cx="5663942" cy="28913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7048500" y="2632620"/>
            <a:ext cx="4572000" cy="628650"/>
          </a:xfrm>
          <a:prstGeom prst="roundRect">
            <a:avLst>
              <a:gd name="adj" fmla="val 1515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048500" y="3375570"/>
            <a:ext cx="4572000" cy="781050"/>
          </a:xfrm>
          <a:prstGeom prst="roundRect">
            <a:avLst>
              <a:gd name="adj" fmla="val 12195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048500" y="4270920"/>
            <a:ext cx="4572000" cy="781050"/>
          </a:xfrm>
          <a:prstGeom prst="roundRect">
            <a:avLst>
              <a:gd name="adj" fmla="val 12195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48500" y="3375570"/>
            <a:ext cx="38100" cy="7810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048500" y="4270920"/>
            <a:ext cx="38100" cy="7810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HTML ZÁKLADY • TABULKOVÁ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Tabulky: , , + colspan &amp; rowspan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19950" y="2698521"/>
            <a:ext cx="148828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b="1" dirty="0"/>
              <a:t>&lt;tr&gt;, &lt;</a:t>
            </a:r>
            <a:r>
              <a:rPr lang="en-US" b="1" dirty="0" err="1"/>
              <a:t>th</a:t>
            </a:r>
            <a:r>
              <a:rPr lang="en-US" b="1" dirty="0"/>
              <a:t>&gt;, &lt;td&gt;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9950" y="2975520"/>
            <a:ext cx="49720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4748B"/>
                </a:solidFill>
                <a:latin typeface="Plus Jakarta Sans"/>
              </a:rPr>
              <a:t>tr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= řádek, </a:t>
            </a:r>
            <a:r>
              <a:rPr sz="975" b="1" i="0" u="none">
                <a:solidFill>
                  <a:srgbClr val="64748B"/>
                </a:solidFill>
                <a:latin typeface="Plus Jakarta Sans"/>
              </a:rPr>
              <a:t>th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= tučné záhlaví, </a:t>
            </a:r>
            <a:r>
              <a:rPr sz="975" b="1" i="0" u="none">
                <a:solidFill>
                  <a:srgbClr val="64748B"/>
                </a:solidFill>
                <a:latin typeface="Plus Jakarta Sans"/>
              </a:rPr>
              <a:t>td</a:t>
            </a:r>
            <a:r>
              <a:rPr sz="975" b="0" i="0" u="none">
                <a:solidFill>
                  <a:srgbClr val="64748B"/>
                </a:solidFill>
                <a:latin typeface="Plus Jakarta Sans"/>
              </a:rPr>
              <a:t> = datová buňka.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58050" y="3508920"/>
            <a:ext cx="4933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1E40AF"/>
                </a:solidFill>
                <a:latin typeface="JetBrains Mono"/>
              </a:rPr>
              <a:t>colspan="2" (Column Span)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8050" y="3718470"/>
            <a:ext cx="4286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3B82F6"/>
                </a:solidFill>
                <a:latin typeface="Plus Jakarta Sans"/>
              </a:rPr>
              <a:t>Spojí buňky </a:t>
            </a:r>
            <a:r>
              <a:rPr sz="975" b="1" i="0" u="none">
                <a:solidFill>
                  <a:srgbClr val="3B82F6"/>
                </a:solidFill>
                <a:latin typeface="Plus Jakarta Sans"/>
              </a:rPr>
              <a:t>vodorovně</a:t>
            </a:r>
            <a:r>
              <a:rPr sz="975" b="0" i="0" u="none">
                <a:solidFill>
                  <a:srgbClr val="3B82F6"/>
                </a:solidFill>
                <a:latin typeface="Plus Jakarta Sans"/>
              </a:rPr>
              <a:t> přes zadaný počet sloupců (jakoby zabere místo souseda vpravo).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58050" y="4404270"/>
            <a:ext cx="493395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92400E"/>
                </a:solidFill>
                <a:latin typeface="JetBrains Mono"/>
              </a:rPr>
              <a:t>rowspan="2" (Row Span)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8050" y="4613820"/>
            <a:ext cx="42862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B45309"/>
                </a:solidFill>
                <a:latin typeface="Plus Jakarta Sans"/>
              </a:rPr>
              <a:t>Spojí buňky </a:t>
            </a:r>
            <a:r>
              <a:rPr sz="975" b="1" i="0" u="none">
                <a:solidFill>
                  <a:srgbClr val="B45309"/>
                </a:solidFill>
                <a:latin typeface="Plus Jakarta Sans"/>
              </a:rPr>
              <a:t>svisle</a:t>
            </a:r>
            <a:r>
              <a:rPr sz="975" b="0" i="0" u="none">
                <a:solidFill>
                  <a:srgbClr val="B45309"/>
                </a:solidFill>
                <a:latin typeface="Plus Jakarta Sans"/>
              </a:rPr>
              <a:t> přes zadaný počet řádků dolů (v dalším řádku už tuto buňku nepíšeme!).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3C85B3F-A81E-CF2B-2F8A-1A2648406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0" y="2532122"/>
            <a:ext cx="5842030" cy="29822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4085183"/>
            <a:ext cx="11049000" cy="790575"/>
          </a:xfrm>
          <a:prstGeom prst="roundRect">
            <a:avLst>
              <a:gd name="adj" fmla="val 1686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71500" y="2808833"/>
            <a:ext cx="355595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17950" y="2808833"/>
            <a:ext cx="355595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64400" y="2808833"/>
            <a:ext cx="355595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71500" y="2808833"/>
            <a:ext cx="38100" cy="104775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317950" y="2808833"/>
            <a:ext cx="38100" cy="104775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64400" y="2808833"/>
            <a:ext cx="38100" cy="10477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47120"/>
            <a:ext cx="200025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PRINCIP KASKÁDY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Jak funguje CSS selektor?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" y="2999333"/>
            <a:ext cx="41171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2563EB"/>
                </a:solidFill>
                <a:latin typeface="JetBrains Mono"/>
              </a:rPr>
              <a:t>h1 { ...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" y="3266033"/>
            <a:ext cx="41171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Prvkový selektor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" y="3513683"/>
            <a:ext cx="3921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Zacílí všechny nadpisy dané úrovně na stránce.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6550" y="2999333"/>
            <a:ext cx="41171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JetBrains Mono"/>
              </a:rPr>
              <a:t>.profil { ... 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6550" y="3266033"/>
            <a:ext cx="4117116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Třídní selektor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6550" y="3513683"/>
            <a:ext cx="3921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Zacílí konkrétní prvky označené třídou (class).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3000" y="2999333"/>
            <a:ext cx="38989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JetBrains Mono"/>
              </a:rPr>
              <a:t>#hlavni { ...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000" y="3266033"/>
            <a:ext cx="3898999" cy="2095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0F172A"/>
                </a:solidFill>
                <a:latin typeface="Plus Jakarta Sans"/>
              </a:rPr>
              <a:t>Identifikátor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000" y="3513683"/>
            <a:ext cx="389899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64748B"/>
                </a:solidFill>
                <a:latin typeface="Plus Jakarta Sans"/>
              </a:rPr>
              <a:t>Unikátní prvek na stránce označený pomocí ID.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28725" y="4275683"/>
            <a:ext cx="6113264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1E40AF"/>
                </a:solidFill>
                <a:latin typeface="Plus Jakarta Sans"/>
              </a:rPr>
              <a:t>Zlaté pravidlo vývojáře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8725" y="4513808"/>
            <a:ext cx="582215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B82F6"/>
                </a:solidFill>
                <a:latin typeface="Plus Jakarta Sans"/>
              </a:rPr>
              <a:t>Pro běžné stylování používáme primárně třídy (.class). Jsou znovupoužitelné.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667000" y="2508795"/>
            <a:ext cx="6858000" cy="2667000"/>
          </a:xfrm>
          <a:prstGeom prst="roundRect">
            <a:avLst>
              <a:gd name="adj" fmla="val 5714"/>
            </a:avLst>
          </a:prstGeom>
          <a:solidFill>
            <a:srgbClr val="FED7AA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857500" y="2965995"/>
            <a:ext cx="6477000" cy="2019300"/>
          </a:xfrm>
          <a:prstGeom prst="roundRect">
            <a:avLst>
              <a:gd name="adj" fmla="val 5660"/>
            </a:avLst>
          </a:prstGeom>
          <a:solidFill>
            <a:srgbClr val="FEF08A"/>
          </a:solidFill>
          <a:ln w="28575"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3057525" y="3432720"/>
            <a:ext cx="6076950" cy="1352550"/>
          </a:xfrm>
          <a:prstGeom prst="roundRect">
            <a:avLst>
              <a:gd name="adj" fmla="val 5633"/>
            </a:avLst>
          </a:prstGeom>
          <a:solidFill>
            <a:srgbClr val="BBF7D0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267075" y="3908970"/>
            <a:ext cx="5657850" cy="666750"/>
          </a:xfrm>
          <a:prstGeom prst="roundRect">
            <a:avLst>
              <a:gd name="adj" fmla="val 8571"/>
            </a:avLst>
          </a:prstGeom>
          <a:solidFill>
            <a:srgbClr val="BFDBFE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ZÁKLADNÍ STAVEBNÍ KÁMEN WEBU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CSS Box Model: Vše na webu je krabička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0" y="2699295"/>
            <a:ext cx="8096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2410C"/>
                </a:solidFill>
                <a:latin typeface="Plus Jakarta Sans"/>
              </a:rPr>
              <a:t>MARGIN (vnější odstup od sousedů)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57525" y="3166020"/>
            <a:ext cx="75961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854D0E"/>
                </a:solidFill>
                <a:latin typeface="Plus Jakarta Sans"/>
              </a:rPr>
              <a:t>BORDER (rámeček prvku)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7075" y="3642270"/>
            <a:ext cx="70723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15803D"/>
                </a:solidFill>
                <a:latin typeface="Plus Jakarta Sans"/>
              </a:rPr>
              <a:t>PADDING (vnitřní výplň kolem obsahu)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69393" y="4118520"/>
            <a:ext cx="6653212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1D4ED8"/>
                </a:solidFill>
                <a:latin typeface="Plus Jakarta Sans"/>
              </a:rPr>
              <a:t>CONTENT (text, obrázek, data)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2527845"/>
            <a:ext cx="5133528" cy="2628900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47725" y="3375570"/>
            <a:ext cx="4581078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47725" y="4509045"/>
            <a:ext cx="4581078" cy="371475"/>
          </a:xfrm>
          <a:prstGeom prst="roundRect">
            <a:avLst>
              <a:gd name="adj" fmla="val 20512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PRAVIDLA DIMENZOVÁNÍ V CSS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Margin vs. Padding &amp; box-sizing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2804070"/>
            <a:ext cx="601266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Padding (vnitřní odstup)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108870"/>
            <a:ext cx="572634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Odsazuje obsah směrem dovnitř od okraje prvku.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1075" y="3470820"/>
            <a:ext cx="440962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2563EB"/>
                </a:solidFill>
                <a:latin typeface="JetBrains Mono"/>
              </a:rPr>
              <a:t>padding: 16px 20px;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937545"/>
            <a:ext cx="601266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25" b="1" i="0" u="none">
                <a:solidFill>
                  <a:srgbClr val="0F172A"/>
                </a:solidFill>
                <a:latin typeface="Plus Jakarta Sans"/>
              </a:rPr>
              <a:t>Margin (vnější odstup)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4242345"/>
            <a:ext cx="572634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Odtlačuje prvek od okolních prvků na stránce.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1075" y="4604295"/>
            <a:ext cx="4409628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D97706"/>
                </a:solidFill>
                <a:latin typeface="JetBrains Mono"/>
              </a:rPr>
              <a:t>margin: 0 auto; /* centrování bloku */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BB7C2D66-F88F-474D-F6E0-679CF23487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348955"/>
            <a:ext cx="6012665" cy="306940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71500" y="3278385"/>
            <a:ext cx="3318420" cy="2581275"/>
          </a:xfrm>
          <a:prstGeom prst="roundRect">
            <a:avLst>
              <a:gd name="adj" fmla="val 5904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45040" y="1315342"/>
            <a:ext cx="3817739" cy="2152650"/>
          </a:xfrm>
          <a:prstGeom prst="roundRect">
            <a:avLst>
              <a:gd name="adj" fmla="val 6194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57771" y="1315342"/>
            <a:ext cx="3455789" cy="790575"/>
          </a:xfrm>
          <a:prstGeom prst="roundRect">
            <a:avLst>
              <a:gd name="adj" fmla="val 14457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230511" y="3716535"/>
            <a:ext cx="2000250" cy="1952625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826015" y="1743967"/>
            <a:ext cx="3455789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826015" y="2296417"/>
            <a:ext cx="3455789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826015" y="2848867"/>
            <a:ext cx="3455789" cy="4572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725811" y="5192910"/>
            <a:ext cx="1009650" cy="276225"/>
          </a:xfrm>
          <a:prstGeom prst="roundRect">
            <a:avLst>
              <a:gd name="adj" fmla="val 20689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826015" y="1743967"/>
            <a:ext cx="28575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826015" y="2296417"/>
            <a:ext cx="28575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826015" y="2848867"/>
            <a:ext cx="28575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7736" y="3916560"/>
            <a:ext cx="685800" cy="6858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6015" y="1505842"/>
            <a:ext cx="1714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6811" y="4116585"/>
            <a:ext cx="247650" cy="285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96" y="2193375"/>
            <a:ext cx="104775" cy="1333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96" y="2421975"/>
            <a:ext cx="104775" cy="1333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96" y="2660100"/>
            <a:ext cx="104775" cy="1333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SAMOSTATNÁ PRÁCE &amp; NÁVOD NA CENTROVÁNÍ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Miniprojekt: Profilová vizitka &amp; Jak centrovat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26015" y="1477267"/>
            <a:ext cx="4208115" cy="171450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050" b="1" i="0">
                <a:solidFill>
                  <a:srgbClr val="0F172A"/>
                </a:solidFill>
                <a:latin typeface="Plus Jakarta Sans"/>
              </a:rPr>
              <a:t>Jak na centrování?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221" y="1448692"/>
            <a:ext cx="408566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 dirty="0" err="1">
                <a:solidFill>
                  <a:srgbClr val="1E40AF"/>
                </a:solidFill>
                <a:latin typeface="Plus Jakarta Sans"/>
              </a:rPr>
              <a:t>Zadání</a:t>
            </a:r>
            <a:r>
              <a:rPr sz="1125" b="1" i="0" u="none" dirty="0">
                <a:solidFill>
                  <a:srgbClr val="1E40AF"/>
                </a:solidFill>
                <a:latin typeface="Plus Jakarta Sans"/>
              </a:rPr>
              <a:t> </a:t>
            </a:r>
            <a:r>
              <a:rPr sz="1125" b="1" i="0" u="none" dirty="0" err="1">
                <a:solidFill>
                  <a:srgbClr val="1E40AF"/>
                </a:solidFill>
                <a:latin typeface="Plus Jakarta Sans"/>
              </a:rPr>
              <a:t>úkolu</a:t>
            </a:r>
            <a:r>
              <a:rPr sz="1125" b="1" i="0" u="none" dirty="0">
                <a:solidFill>
                  <a:srgbClr val="1E40AF"/>
                </a:solidFill>
                <a:latin typeface="Plus Jakarta Sans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9221" y="1667767"/>
            <a:ext cx="3208139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 err="1">
                <a:solidFill>
                  <a:srgbClr val="3B82F6"/>
                </a:solidFill>
                <a:latin typeface="Plus Jakarta Sans"/>
              </a:rPr>
              <a:t>Vytvořte</a:t>
            </a:r>
            <a:r>
              <a:rPr sz="975" b="0" i="0" u="none" dirty="0">
                <a:solidFill>
                  <a:srgbClr val="3B82F6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B82F6"/>
                </a:solidFill>
                <a:latin typeface="Plus Jakarta Sans"/>
              </a:rPr>
              <a:t>vizitku</a:t>
            </a:r>
            <a:r>
              <a:rPr sz="975" b="0" i="0" u="none" dirty="0">
                <a:solidFill>
                  <a:srgbClr val="3B82F6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B82F6"/>
                </a:solidFill>
                <a:latin typeface="Plus Jakarta Sans"/>
              </a:rPr>
              <a:t>libovolné</a:t>
            </a:r>
            <a:r>
              <a:rPr sz="975" b="0" i="0" u="none" dirty="0">
                <a:solidFill>
                  <a:srgbClr val="3B82F6"/>
                </a:solidFill>
                <a:latin typeface="Plus Jakarta Sans"/>
              </a:rPr>
              <a:t> </a:t>
            </a:r>
            <a:r>
              <a:rPr sz="975" b="0" i="0" u="none" dirty="0" err="1">
                <a:solidFill>
                  <a:srgbClr val="3B82F6"/>
                </a:solidFill>
                <a:latin typeface="Plus Jakarta Sans"/>
              </a:rPr>
              <a:t>postavy</a:t>
            </a:r>
            <a:r>
              <a:rPr sz="975" b="0" i="0" u="none" dirty="0">
                <a:solidFill>
                  <a:srgbClr val="3B82F6"/>
                </a:solidFill>
                <a:latin typeface="Plus Jakarta Sans"/>
              </a:rPr>
              <a:t> (</a:t>
            </a:r>
            <a:r>
              <a:rPr sz="975" b="0" i="0" u="none" dirty="0" err="1">
                <a:solidFill>
                  <a:srgbClr val="3B82F6"/>
                </a:solidFill>
                <a:latin typeface="Plus Jakarta Sans"/>
              </a:rPr>
              <a:t>foto</a:t>
            </a:r>
            <a:r>
              <a:rPr sz="975" b="0" i="0" u="none" dirty="0">
                <a:solidFill>
                  <a:srgbClr val="3B82F6"/>
                </a:solidFill>
                <a:latin typeface="Plus Jakarta Sans"/>
              </a:rPr>
              <a:t>, </a:t>
            </a:r>
            <a:r>
              <a:rPr sz="975" b="0" i="0" u="none" dirty="0" err="1">
                <a:solidFill>
                  <a:srgbClr val="3B82F6"/>
                </a:solidFill>
                <a:latin typeface="Plus Jakarta Sans"/>
              </a:rPr>
              <a:t>jméno</a:t>
            </a:r>
            <a:r>
              <a:rPr sz="975" b="0" i="0" u="none" dirty="0">
                <a:solidFill>
                  <a:srgbClr val="3B82F6"/>
                </a:solidFill>
                <a:latin typeface="Plus Jakarta Sans"/>
              </a:rPr>
              <a:t>, role, </a:t>
            </a:r>
            <a:r>
              <a:rPr sz="975" b="0" i="0" u="none" dirty="0" err="1">
                <a:solidFill>
                  <a:srgbClr val="3B82F6"/>
                </a:solidFill>
                <a:latin typeface="Plus Jakarta Sans"/>
              </a:rPr>
              <a:t>tlačítko</a:t>
            </a:r>
            <a:r>
              <a:rPr sz="975" b="0" i="0" u="none" dirty="0">
                <a:solidFill>
                  <a:srgbClr val="3B82F6"/>
                </a:solidFill>
                <a:latin typeface="Plus Jakarta Sans"/>
              </a:rPr>
              <a:t>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896" y="2189708"/>
            <a:ext cx="4319736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Kontejner ::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Pevná šířka, zaoblené rohy.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896" y="2418308"/>
            <a:ext cx="4319736" cy="161925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Avatar 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Rozměr 80×80px a border-radius: 50%.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896" y="2656433"/>
            <a:ext cx="4319736" cy="152400"/>
          </a:xfrm>
          <a:prstGeom prst="rect">
            <a:avLst/>
          </a:prstGeom>
          <a:noFill/>
        </p:spPr>
        <p:txBody>
          <a:bodyPr wrap="none" lIns="180975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34155"/>
                </a:solidFill>
                <a:latin typeface="Plus Jakarta Sans"/>
              </a:rPr>
              <a:t>Tlačítko :</a:t>
            </a:r>
            <a:r>
              <a:rPr sz="975" b="0" i="0" u="none">
                <a:solidFill>
                  <a:srgbClr val="334155"/>
                </a:solidFill>
                <a:latin typeface="Plus Jakarta Sans"/>
              </a:rPr>
              <a:t> Převést na inline-block a obarvit.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0498" y="4697610"/>
            <a:ext cx="22002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Jan Novák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2886" y="4916685"/>
            <a:ext cx="2095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 u="none">
                <a:solidFill>
                  <a:srgbClr val="64748B"/>
                </a:solidFill>
                <a:latin typeface="Plus Jakarta Sans"/>
              </a:rPr>
              <a:t>Webový vývojář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5336" y="5259585"/>
            <a:ext cx="99060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FFFFFF"/>
                </a:solidFill>
                <a:latin typeface="Plus Jakarta Sans"/>
              </a:rPr>
              <a:t>Kontaktovat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68890" y="1820167"/>
            <a:ext cx="399826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2563EB"/>
                </a:solidFill>
                <a:latin typeface="JetBrains Mono"/>
              </a:rPr>
              <a:t>1. Text uvnitř karty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68890" y="1991617"/>
            <a:ext cx="39982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Plus Jakarta Sans"/>
              </a:rPr>
              <a:t>text-align: center;</a:t>
            </a:r>
            <a:r>
              <a:rPr sz="825" b="0" i="0" u="none">
                <a:solidFill>
                  <a:srgbClr val="64748B"/>
                </a:solidFill>
                <a:latin typeface="Plus Jakarta Sans"/>
              </a:rPr>
              <a:t> vystředí text i tlačítka.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68890" y="2372617"/>
            <a:ext cx="399826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JetBrains Mono"/>
              </a:rPr>
              <a:t>2. Karta na stránce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68890" y="2544067"/>
            <a:ext cx="39982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0F172A"/>
                </a:solidFill>
                <a:latin typeface="Plus Jakarta Sans"/>
              </a:rPr>
              <a:t>width: 280px; margin: 30px auto;</a:t>
            </a:r>
            <a:r>
              <a:rPr sz="825" b="0" i="0" u="none">
                <a:solidFill>
                  <a:srgbClr val="64748B"/>
                </a:solidFill>
                <a:latin typeface="Plus Jakarta Sans"/>
              </a:rPr>
              <a:t> dopočítá okraje.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8890" y="2925067"/>
            <a:ext cx="399826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D97706"/>
                </a:solidFill>
                <a:latin typeface="JetBrains Mono"/>
              </a:rPr>
              <a:t>3. Flexbox na celou stránku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8890" y="3096517"/>
            <a:ext cx="3998267" cy="1333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0" i="0" u="none">
                <a:solidFill>
                  <a:srgbClr val="64748B"/>
                </a:solidFill>
                <a:latin typeface="Plus Jakarta Sans"/>
              </a:rPr>
              <a:t>Na : </a:t>
            </a:r>
            <a:r>
              <a:rPr sz="825" b="0" i="0" u="none">
                <a:solidFill>
                  <a:srgbClr val="0F172A"/>
                </a:solidFill>
                <a:latin typeface="Plus Jakarta Sans"/>
              </a:rPr>
              <a:t>display: flex; justify-content: center;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1500" y="419100"/>
            <a:ext cx="11620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2563EB"/>
                </a:solidFill>
                <a:latin typeface="Plus Jakarta Sans"/>
              </a:rPr>
              <a:t>KOMPLETNÍ KÓD S KOMENTÁŘI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666750"/>
            <a:ext cx="11620500" cy="3504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sz="2400" b="1" i="0" u="none">
                <a:solidFill>
                  <a:srgbClr val="0F172A"/>
                </a:solidFill>
                <a:latin typeface="Plus Jakarta Sans"/>
              </a:rPr>
              <a:t>Vzorové řešení: Krok za krokem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DF3049-37BE-B22A-DBC9-2E3ABC07F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41" y="1256542"/>
            <a:ext cx="11265317" cy="45192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4795837" y="4402335"/>
            <a:ext cx="2600325" cy="419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2537" y="4535685"/>
            <a:ext cx="152400" cy="152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41156" y="2036564"/>
            <a:ext cx="1309687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60A5FA"/>
                </a:solidFill>
                <a:latin typeface="Plus Jakarta Sans"/>
              </a:rPr>
              <a:t>ZÁVĚR LEKCE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2284214"/>
            <a:ext cx="10001250" cy="1051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140"/>
              </a:lnSpc>
            </a:pPr>
            <a:r>
              <a:rPr sz="3450" b="1" i="0" u="none">
                <a:solidFill>
                  <a:srgbClr val="F8FAFC"/>
                </a:solidFill>
                <a:latin typeface="Plus Jakarta Sans"/>
              </a:rPr>
              <a:t>Otázky, ukládání práce a příští hodina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05062" y="3526035"/>
            <a:ext cx="7381875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Nezapomeňte si kód z OneCompileru zkopírovat nebo uložit. Na příští hodině nás čeká Flexbox layout!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4209" y="4516635"/>
            <a:ext cx="2250281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25" b="0" i="0" u="none">
                <a:solidFill>
                  <a:srgbClr val="E2E8F0"/>
                </a:solidFill>
                <a:latin typeface="JetBrains Mono"/>
              </a:rPr>
              <a:t>Děkujeme za pozornost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675</Words>
  <Application>Microsoft Macintosh PowerPoint</Application>
  <PresentationFormat>Widescreen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JetBrains Mono</vt:lpstr>
      <vt:lpstr>Calibri</vt:lpstr>
      <vt:lpstr>Plus Jakarta Sans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Ouředník Adam</cp:lastModifiedBy>
  <cp:revision>2</cp:revision>
  <dcterms:created xsi:type="dcterms:W3CDTF">2013-01-27T09:14:16Z</dcterms:created>
  <dcterms:modified xsi:type="dcterms:W3CDTF">2026-10-15T07:11:47Z</dcterms:modified>
  <cp:category/>
</cp:coreProperties>
</file>